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Telecom Churn Prediction using Machine Learning</a:t>
            </a:r>
          </a:p>
        </p:txBody>
      </p:sp>
      <p:sp>
        <p:nvSpPr>
          <p:cNvPr id="3" name="Subtitle 2"/>
          <p:cNvSpPr>
            <a:spLocks noGrp="1"/>
          </p:cNvSpPr>
          <p:nvPr>
            <p:ph type="subTitle" idx="1"/>
          </p:nvPr>
        </p:nvSpPr>
        <p:spPr/>
        <p:txBody>
          <a:bodyPr/>
          <a:lstStyle/>
          <a:p>
            <a:r>
              <a:t>Project Overview &amp;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#librarries </a:t>
            </a:r>
          </a:p>
          <a:p>
            <a:r>
              <a:t>import numpy as np</a:t>
            </a:r>
          </a:p>
          <a:p>
            <a:r>
              <a:t>import pandas as pd</a:t>
            </a:r>
          </a:p>
          <a:p>
            <a:r>
              <a:t>import matplotlib.pyplot as plt</a:t>
            </a:r>
          </a:p>
          <a:p>
            <a:r>
              <a:t>import seaborn as sns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#loading the data </a:t>
            </a:r>
          </a:p>
          <a:p>
            <a:r>
              <a:t>df = pd.read_csv(r"C:\Users\haris shaikh\Downloads\Telecomm project\WA_Fn-UseC_-Telco-Customer-Churn.csv")</a:t>
            </a:r>
          </a:p>
          <a:p>
            <a:r>
              <a:t>df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df.head()</a:t>
            </a:r>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#checking the shape of datset </a:t>
            </a:r>
          </a:p>
          <a:p>
            <a:r>
              <a:t>df.shape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#Removing the customerID column</a:t>
            </a:r>
          </a:p>
          <a:p>
            <a:r>
              <a:t>df.drop(columns='customerID', inplace=True)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#Checking for duplicate values </a:t>
            </a:r>
          </a:p>
          <a:p>
            <a:r>
              <a:t>df.duplicated().sum()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#Removing the duplicate values</a:t>
            </a:r>
          </a:p>
          <a:p>
            <a:r>
              <a:t>df.drop_duplicates(inplace = True)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df.dtypes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df['TotalCharges'] = pd.to_numeric(df['TotalCharges'], errors='coerce')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#Checking for Null value</a:t>
            </a:r>
          </a:p>
          <a:p>
            <a:r>
              <a:t>df.isnull().sum()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#Droping all the nulls values</a:t>
            </a:r>
          </a:p>
          <a:p>
            <a:r>
              <a:t>df.dropna(inplace=True)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#checking number of unique value in each column </a:t>
            </a:r>
          </a:p>
          <a:p>
            <a:r>
              <a:t>df.nunique()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#checking the unique value in each column</a:t>
            </a:r>
          </a:p>
          <a:p>
            <a:r>
              <a:t>cols = df.columns</a:t>
            </a:r>
          </a:p>
          <a:p>
            <a:r>
              <a:t>for i in cols:</a:t>
            </a:r>
          </a:p>
          <a:p>
            <a:r>
              <a:t>    print(i, df[i].unique(),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df.describe()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Exploratory Data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In the exploratory data analysis, I will be visualizing the data to get a better understanding of the data and to see if there are any trends or pattern in the data. First I will begin with looking at the distribution of the data and then I will look at the relationship between the independent variables and the target variable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df.head()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Customer Demographics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plt.subplots(2, 2, figsize=(15, 10))</a:t>
            </a:r>
          </a:p>
          <a:p/>
          <a:p>
            <a:r>
              <a:t>#Gender Distribution</a:t>
            </a:r>
          </a:p>
          <a:p>
            <a:r>
              <a:t>ax[0,0].pie(df['gender'].value_counts(), labels  = ['Male', 'Female'], autopct = '%1.2f%%')</a:t>
            </a:r>
          </a:p>
          <a:p>
            <a:r>
              <a:t>ax[0,0].set_title('Gender Distribution')</a:t>
            </a:r>
          </a:p>
          <a:p/>
          <a:p>
            <a:r>
              <a:t>#Senior Citizen Distribution</a:t>
            </a:r>
          </a:p>
          <a:p>
            <a:r>
              <a:t>sns.barplot(y = df['SeniorCitizen'].value_counts(), x = df['SeniorCitizen'].unique(), ax=ax[0,1]).set_title('Senior Citizen')</a:t>
            </a:r>
          </a:p>
          <a:p/>
          <a:p>
            <a:r>
              <a:t>#Partner Distribution</a:t>
            </a:r>
          </a:p>
          <a:p>
            <a:r>
              <a:t>sns.barplot(y = df['Partner'].value_counts(), x = df['Partner'].unique(), ax=ax[1,0]).set_title('Partner')</a:t>
            </a:r>
          </a:p>
          <a:p/>
          <a:p>
            <a:r>
              <a:t>#Dependents Distribution</a:t>
            </a:r>
          </a:p>
          <a:p>
            <a:r>
              <a:t>sns.barplot(y = df['Dependents'].value_counts(), x = df['Dependents'].unique(), ax=ax[1,1]).set_title('Dependents')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These graphs shows the customer demographics. The number of males and females is almost same, with few more males than females in the dataset. Majority of them are not senior citizen. Nearly 3500, customers have a partner and similar number of cutomers don't. Majority of the customers don't have dependents, but still a significant number does have dependents.</a:t>
            </a:r>
          </a:p>
          <a:p/>
          <a:p>
            <a:r>
              <a:t>From these graphs, we get know about the customers demographics, which help us to get an idea of their psychology based on their age, relationship status, and dependents.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Services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plt.subplots(3, 3, figsize=(20, 20))</a:t>
            </a:r>
          </a:p>
          <a:p>
            <a:r>
              <a:t>#phone service</a:t>
            </a:r>
          </a:p>
          <a:p>
            <a:r>
              <a:t>sns.countplot(x = df['PhoneService'], ax=ax[0,0]).set_title('Phone Service')</a:t>
            </a:r>
          </a:p>
          <a:p>
            <a:r>
              <a:t>ax[0,0].set_title('Phone Service')</a:t>
            </a:r>
          </a:p>
          <a:p>
            <a:r>
              <a:t>#Multiple Lines</a:t>
            </a:r>
          </a:p>
          <a:p>
            <a:r>
              <a:t>sns.countplot(x = df['MultipleLines'], ax=ax[0,1]).set_title('Multiple Lines')</a:t>
            </a:r>
          </a:p>
          <a:p>
            <a:r>
              <a:t>ax[0,1].set_title('Multiple Lines')</a:t>
            </a:r>
          </a:p>
          <a:p>
            <a:r>
              <a:t>#Internet Service</a:t>
            </a:r>
          </a:p>
          <a:p>
            <a:r>
              <a:t>sns.countplot(x = df['InternetService'], ax=ax[0,2]).set_title('Internet Service')</a:t>
            </a:r>
          </a:p>
          <a:p>
            <a:r>
              <a:t>ax[0,2].set_title('Internet Service')</a:t>
            </a:r>
          </a:p>
          <a:p>
            <a:r>
              <a:t>#Online Security</a:t>
            </a:r>
          </a:p>
          <a:p>
            <a:r>
              <a:t>sns.countplot(x = df['OnlineSecurity'], ax=ax[1,0]).set_title('Online Security')</a:t>
            </a:r>
          </a:p>
          <a:p>
            <a:r>
              <a:t>ax[1,0].set_title('Online Security')</a:t>
            </a:r>
          </a:p>
          <a:p>
            <a:r>
              <a:t>#Online Backup</a:t>
            </a:r>
          </a:p>
          <a:p>
            <a:r>
              <a:t>sns.countplot(x = df['OnlineBackup'], ax=ax[1,1]).set_title('Online Backup')</a:t>
            </a:r>
          </a:p>
          <a:p>
            <a:r>
              <a:t>ax[1,1].set_title('Online Backup')</a:t>
            </a:r>
          </a:p>
          <a:p>
            <a:r>
              <a:t>#Device Protection</a:t>
            </a:r>
          </a:p>
          <a:p>
            <a:r>
              <a:t>sns.countplot(x = df['DeviceProtection'], ax=ax[1,2]).set_title('Device Pro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 above graphs visualizes the services taken by the customers from the telecom company. Nearly 6000 customers have taken phone service. However, nealry half of the cutomers have taken multiplt lines from the company. Almost 5500, have taken internet services from the company, where 3000 customers opted fibre optcs and rest of them opted DSL which could possible for business purposes. From these three major services related to telecom, the phone services and the internet services are the most popular services among the customers.</a:t>
            </a:r>
          </a:p>
          <a:p/>
          <a:p>
            <a:r>
              <a:t>Coming to other services which includes- Online Security, Online Backup, Device Protection, Tech Support, and Streaming Services. The online backup and device protection service is opted by almost 2500 customers, which higlights the customers concern regarding 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Tenure and Contract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plt.subplots(1, 2, figsize=(15, 8))</a:t>
            </a:r>
          </a:p>
          <a:p>
            <a:r>
              <a:t>sns.histplot(x = 'tenure', data = df, ax= ax[0]).set_title('Cutomer Tenure in Months')</a:t>
            </a:r>
          </a:p>
          <a:p>
            <a:r>
              <a:t>sns.countplot(x = 'Contract', data = df, ax= ax[1]).set_title('Contract Type')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In the aboove graphs we can see the distribution of customer tenure with the comapny and the count of the type of contarct the company had with customer. Here, most if the customers had tenure less than a month, and most of the customers had a month-to-month contract with the company. Therfore, the customers with shorter tenure have month-to-month contract with the company. In addtion to that, a significant number of customers have tenure of nealry 70 months, which highlights the loyalty of the customers towards the company. Moreover, after month-to-month contract, the second most popular contract is two-year contract, which is opted by almost 1700 customers. Rest of the customers have tenure between 1-5 years.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Billing and Charges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plt.subplots(2, 2, figsize=(15, 10))</a:t>
            </a:r>
          </a:p>
          <a:p>
            <a:r>
              <a:t>fig.tight_layout(pad=5.0)</a:t>
            </a:r>
          </a:p>
          <a:p/>
          <a:p>
            <a:r>
              <a:t>#spacing between subplots</a:t>
            </a:r>
          </a:p>
          <a:p>
            <a:r>
              <a:t>fig.subplots_adjust(hspace=0.9)</a:t>
            </a:r>
          </a:p>
          <a:p/>
          <a:p/>
          <a:p>
            <a:r>
              <a:t>#papaerless billing</a:t>
            </a:r>
          </a:p>
          <a:p>
            <a:r>
              <a:t>sns.countplot(x = df['PaperlessBilling'], ax=ax[0,0]).set_title('Paperless Billing')</a:t>
            </a:r>
          </a:p>
          <a:p/>
          <a:p>
            <a:r>
              <a:t>#Payment Method</a:t>
            </a:r>
          </a:p>
          <a:p>
            <a:r>
              <a:t>sns.countplot(x = df['PaymentMethod'], ax=ax[0,1]).set_title('Payment Method')</a:t>
            </a:r>
          </a:p>
          <a:p>
            <a:r>
              <a:t>ax[0,1].xaxis.set_tick_params(rotation=90)</a:t>
            </a:r>
          </a:p>
          <a:p/>
          <a:p>
            <a:r>
              <a:t>#Monthly Charges</a:t>
            </a:r>
          </a:p>
          <a:p>
            <a:r>
              <a:t>sns.histplot(x = 'MonthlyCharges', data = df, ax = ax[1,0]).set_title('Monthly Charges')</a:t>
            </a:r>
          </a:p>
          <a:p/>
          <a:p>
            <a:r>
              <a:t>#Total Charges</a:t>
            </a:r>
          </a:p>
          <a:p>
            <a:r>
              <a:t>sns.histplot(x = 'TotalCharges', data = df, ax = ax[1,1]).set_title('Total Charges')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These graphs shows the method of billing and the bill amounts. Most of the customers, nearly 4000 prefer paperless billing, however, a little bit over half of them pays through electronic check. But still a significant number of customers prefer paper bills. Apart from electronic checks, the other modes of payment accepted by the company includes - mailed checks, bank transfer and credit cards. Nearly 4500 customers altogether prefer these modes of payment.</a:t>
            </a:r>
          </a:p>
          <a:p/>
          <a:p>
            <a:r>
              <a:t>Now, for the montly charges, huge number of customers pays near 20 dollars for the montly services and majority of the customer having total charges less than 200 dollars. However, there are considerable number of customers having monthly charges between 70 to 100 dollars and total charges between 200-800 dollars. Interestingly, If we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Churn Count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plt.pie(x = df['Churn'].value_counts(), labels = df['Churn'].unique(), autopct = '%1.2f%%')</a:t>
            </a:r>
          </a:p>
          <a:p>
            <a:r>
              <a:t>plt.title('Churn Count')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In the dataset, the number of churning customers is very less as compared to non churning. Only 26.49% churnned from the telecom company. This could be a potential proof, that company is quite good at retaning its customers.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Till now, I have visualized the data and got a better understanding of the data. Now, I will look at the relationship between the independent variables and the target variable.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Customer Demogrpahics and Churn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plt.subplots(2, 2, figsize=(15, 10))</a:t>
            </a:r>
          </a:p>
          <a:p/>
          <a:p>
            <a:r>
              <a:t>#Gender Distribution</a:t>
            </a:r>
          </a:p>
          <a:p>
            <a:r>
              <a:t>sns.countplot(x = 'gender', data = df, hue = 'Churn', ax=ax[0,0])</a:t>
            </a:r>
          </a:p>
          <a:p>
            <a:r>
              <a:t>ax[0,0].set_title('Gender Distribution')</a:t>
            </a:r>
          </a:p>
          <a:p/>
          <a:p>
            <a:r>
              <a:t>#Senior Citizen Distribution</a:t>
            </a:r>
          </a:p>
          <a:p>
            <a:r>
              <a:t>sns.countplot(x = df['SeniorCitizen'], ax=ax[0,1], hue = df['Churn']).set_title('Senior Citizen and Churn')</a:t>
            </a:r>
          </a:p>
          <a:p/>
          <a:p>
            <a:r>
              <a:t>#Partner Distribution</a:t>
            </a:r>
          </a:p>
          <a:p>
            <a:r>
              <a:t>sns.countplot( x = df['Partner'], ax=ax[1,0], hue = df['Churn']).set_title('Partner and Churn')</a:t>
            </a:r>
          </a:p>
          <a:p/>
          <a:p>
            <a:r>
              <a:t>#Dependents Distribution</a:t>
            </a:r>
          </a:p>
          <a:p>
            <a:r>
              <a:t>sns.countplot(x = df['Dependents'], ax=ax[1,1], hue = df['Churn']).set_title('Dependents and Churn')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From these graphs, we can get know about the relation between customer demographics and customer churn. Both makes and females have equal number of churn count, so there is not relation between gender and customer churn. However, the senior citizens have a lesser churn count as compared to non senior citizens, which may be because their age and they don't want to hasle with the process of changing the telecom company. The customers with no partners have higher churn count as compared to customers with partners. Similarly, customers with no dependents have higher churn count as compared to customers with dependents.</a:t>
            </a:r>
          </a:p>
          <a:p/>
          <a:p>
            <a:r>
              <a:t>From this I conclude that customers whom are single with no partner or have no dependents have higher churn count and senior citizens have lower churn count.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Services and Churn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plt.subplots(3, 3, figsize=(20, 20))</a:t>
            </a:r>
          </a:p>
          <a:p>
            <a:r>
              <a:t>#phone service</a:t>
            </a:r>
          </a:p>
          <a:p>
            <a:r>
              <a:t>sns.countplot(x = df['PhoneService'], ax=ax[0,0]).set_title('Phone Service')</a:t>
            </a:r>
          </a:p>
          <a:p>
            <a:r>
              <a:t>ax[0,0].set_title('Phone Service')</a:t>
            </a:r>
          </a:p>
          <a:p>
            <a:r>
              <a:t>#Multiple Lines</a:t>
            </a:r>
          </a:p>
          <a:p>
            <a:r>
              <a:t>sns.countplot(x = df['MultipleLines'], ax=ax[0,1]).set_title('Multiple Lines')</a:t>
            </a:r>
          </a:p>
          <a:p>
            <a:r>
              <a:t>ax[0,1].set_title('Multiple Lines')</a:t>
            </a:r>
          </a:p>
          <a:p>
            <a:r>
              <a:t>#Internet Service</a:t>
            </a:r>
          </a:p>
          <a:p>
            <a:r>
              <a:t>sns.countplot(x = df['InternetService'], ax=ax[0,2]).set_title('Internet Service')</a:t>
            </a:r>
          </a:p>
          <a:p>
            <a:r>
              <a:t>ax[0,2].set_title('Internet Service')</a:t>
            </a:r>
          </a:p>
          <a:p>
            <a:r>
              <a:t>#Online Security</a:t>
            </a:r>
          </a:p>
          <a:p>
            <a:r>
              <a:t>sns.countplot(x = df['OnlineSecurity'], ax=ax[1,0]).set_title('Online Security')</a:t>
            </a:r>
          </a:p>
          <a:p>
            <a:r>
              <a:t>ax[1,0].set_title('Online Security')</a:t>
            </a:r>
          </a:p>
          <a:p>
            <a:r>
              <a:t>#Online Backup</a:t>
            </a:r>
          </a:p>
          <a:p>
            <a:r>
              <a:t>sns.countplot(x = df['OnlineBackup'], ax=ax[1,1]).set_title('Online Backup')</a:t>
            </a:r>
          </a:p>
          <a:p>
            <a:r>
              <a:t>ax[1,1].set_title('Online Backup')</a:t>
            </a:r>
          </a:p>
          <a:p>
            <a:r>
              <a:t>#Device Protection</a:t>
            </a:r>
          </a:p>
          <a:p>
            <a:r>
              <a:t>sns.countplot(x = df['DeviceProtection'], ax=ax[1,2]).set_title('Device Pro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These graphs visualizes the relation between customer churn based on services opted by the customer. In the phone and internet service, there is no relation between churn and service opted, however the churn count is higher for the customers, who have taken multiple lines. Coming to other services, where customers who have not taken Online backup or Device Protection service has higher churn count, than those who have opted. Moreover, the customers with streaming services have lower churn count as compared to those who have not opted for it.</a:t>
            </a:r>
          </a:p>
          <a:p/>
          <a:p>
            <a:r>
              <a:t>Therefore, certain services have relation with the customer churn, which are multiple lines, Online Backup, Device Protection, and Streaming Services.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Tenure/Contract and Churn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plt.subplots(1, 2, figsize=(15, 8))</a:t>
            </a:r>
          </a:p>
          <a:p>
            <a:r>
              <a:t>sns.histplot(x = 'tenure', data = df, ax= ax[0]).set_title('Cutomer Tenure in Months')</a:t>
            </a:r>
          </a:p>
          <a:p>
            <a:r>
              <a:t>sns.countplot(x = 'Contract', data = df, ax= ax[1]).set_title('Contract Type')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Looks like the customer tenure and contract has a inverse relation. The customers with shorter tenure or tenure less than 5 months have higher churn count. The churn count decreases with increase in tenure. Moreover, the customers with month-to-month contract have higher churn count as compared to those with one or two year contract which also proves that customer who have longer contract with the company have lower churn count.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Billing/Charges and Churn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plt.subplots(2, 2, figsize=(15, 10))</a:t>
            </a:r>
          </a:p>
          <a:p>
            <a:r>
              <a:t>fig.tight_layout(pad=5.0)</a:t>
            </a:r>
          </a:p>
          <a:p/>
          <a:p>
            <a:r>
              <a:t>#spacing between subplots</a:t>
            </a:r>
          </a:p>
          <a:p>
            <a:r>
              <a:t>fig.subplots_adjust(hspace=0.9)</a:t>
            </a:r>
          </a:p>
          <a:p/>
          <a:p/>
          <a:p>
            <a:r>
              <a:t>#papaerless billing</a:t>
            </a:r>
          </a:p>
          <a:p>
            <a:r>
              <a:t>sns.countplot(x = df['PaperlessBilling'], ax=ax[0,0], hue = df['Churn']).set_title('Paperless Billing')</a:t>
            </a:r>
          </a:p>
          <a:p/>
          <a:p>
            <a:r>
              <a:t>#Payment Method</a:t>
            </a:r>
          </a:p>
          <a:p>
            <a:r>
              <a:t>sns.countplot(x = df['PaymentMethod'], ax=ax[0,1], hue = df['Churn']).set_title('Payment Method')</a:t>
            </a:r>
          </a:p>
          <a:p>
            <a:r>
              <a:t>ax[0,1].xaxis.set_tick_params(rotation=90)</a:t>
            </a:r>
          </a:p>
          <a:p/>
          <a:p>
            <a:r>
              <a:t>#Monthly Charges</a:t>
            </a:r>
          </a:p>
          <a:p>
            <a:r>
              <a:t>sns.histplot(x = 'MonthlyCharges', data = df, ax = ax[1,0], hue = 'Churn', multiple= 'stack').set_title('Monthly Charges')</a:t>
            </a:r>
          </a:p>
          <a:p/>
          <a:p>
            <a:r>
              <a:t>#Total Charges</a:t>
            </a:r>
          </a:p>
          <a:p>
            <a:r>
              <a:t>sns.histplot(x = 'TotalCharges', data = df, ax = ax[1,1], hue = 'Churn', multiple= 'stack').set_title('Total Charges')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 paperless billing and payment method have not significant relation with the customer churn. However, the montly and total charges do have a interesting relation with the customer churn. The customers with higher monthly charges have higher churn count, which is quite obvious. But, the customers with higher total charges have lower churn count, which is quite interesting. This could be possible, if the customer has a long tenure or uses alot of services. Therefore, the company should focus on lowering the monthly charges for the customers in order to reduce the churn count.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Data Preprocessing Part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Outlier Removal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#Columns for outlier removal</a:t>
            </a:r>
          </a:p>
          <a:p>
            <a:r>
              <a:t>cols = ['tenure', 'MonthlyCharges', 'TotalCharges']</a:t>
            </a:r>
          </a:p>
          <a:p/>
          <a:p>
            <a:r>
              <a:t>#Using IQR method to remove outliers</a:t>
            </a:r>
          </a:p>
          <a:p>
            <a:r>
              <a:t>Q1 = df[cols].quantile(0.25)</a:t>
            </a:r>
          </a:p>
          <a:p>
            <a:r>
              <a:t>Q3 = df[cols].quantile(0.75)</a:t>
            </a:r>
          </a:p>
          <a:p>
            <a:r>
              <a:t>IQR = Q3 - Q1</a:t>
            </a:r>
          </a:p>
          <a:p/>
          <a:p>
            <a:r>
              <a:t>#Removing the outliers</a:t>
            </a:r>
          </a:p>
          <a:p>
            <a:r>
              <a:t>df = df[~((df[cols] &lt; (Q1 - 1.5 * IQR)) |(df[cols] &gt; (Q3 + 1.5 * IQR))).any(axis=1)]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Label Encoding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sklearn.preprocessing import LabelEncoder</a:t>
            </a:r>
          </a:p>
          <a:p/>
          <a:p>
            <a:r>
              <a:t>#colums for label encoding</a:t>
            </a:r>
          </a:p>
          <a:p>
            <a:r>
              <a:t>cols = df.columns[df.dtypes == 'object']</a:t>
            </a:r>
          </a:p>
          <a:p/>
          <a:p>
            <a:r>
              <a:t>#Label encoder object</a:t>
            </a:r>
          </a:p>
          <a:p>
            <a:r>
              <a:t>le = LabelEncoder()</a:t>
            </a:r>
          </a:p>
          <a:p/>
          <a:p>
            <a:r>
              <a:t>#Label encoding the columns</a:t>
            </a:r>
          </a:p>
          <a:p>
            <a:r>
              <a:t>for i in cols:</a:t>
            </a:r>
          </a:p>
          <a:p>
            <a:r>
              <a:t>    le.fit(df[i])</a:t>
            </a:r>
          </a:p>
          <a:p>
            <a:r>
              <a:t>    df[i] = le.transform(df[i])</a:t>
            </a:r>
          </a:p>
          <a:p>
            <a:r>
              <a:t>    print(i, df[i].unique(), '\n')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Feature Scaling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sklearn.preprocessing import StandardScaler</a:t>
            </a:r>
          </a:p>
          <a:p/>
          <a:p>
            <a:r>
              <a:t>#Standardizing the data</a:t>
            </a:r>
          </a:p>
          <a:p>
            <a:r>
              <a:t>sc = StandardScaler()</a:t>
            </a:r>
          </a:p>
          <a:p>
            <a:r>
              <a:t>df[['tenure', 'MonthlyCharges', 'TotalCharges']] = sc.fit_transform(df[['tenure', 'MonthlyCharges', 'TotalCharges']])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Correlation Matrix Heatmap</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plt.figure(figsize=(15, 15))</a:t>
            </a:r>
          </a:p>
          <a:p>
            <a:r>
              <a:t>sns.heatmap(df.corr(), annot=True)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Train Test Split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sklearn.model_selection import train_test_split</a:t>
            </a:r>
          </a:p>
          <a:p>
            <a:r>
              <a:t>X_train, X_test, y_train, y_test = train_test_split(df.drop(columns='Churn'), df['Churn'], test_size=0.2, random_state=42)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Model Building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I will be using the following models to predict the customer churn:</a:t>
            </a:r>
          </a:p>
          <a:p/>
          <a:p>
            <a:r>
              <a:t>Decision Tree Classifier</a:t>
            </a:r>
          </a:p>
          <a:p>
            <a:r>
              <a:t>Random Forest Classifier</a:t>
            </a:r>
          </a:p>
          <a:p>
            <a:r>
              <a:t>K Nearest Neighbors Classifier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Decision Tree Classifier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sklearn.tree import DecisionTreeClassifier</a:t>
            </a:r>
          </a:p>
          <a:p/>
          <a:p>
            <a:r>
              <a:t>#Decision Tree Classifier Object</a:t>
            </a:r>
          </a:p>
          <a:p>
            <a:r>
              <a:t>dtree  = DecisionTreeClassifier()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Hyperparameter Tuning using GridSearchCV</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sklearn.model_selection import GridSearchCV</a:t>
            </a:r>
          </a:p>
          <a:p/>
          <a:p>
            <a:r>
              <a:t>#parameter grid</a:t>
            </a:r>
          </a:p>
          <a:p>
            <a:r>
              <a:t>param_grid = {</a:t>
            </a:r>
          </a:p>
          <a:p>
            <a:r>
              <a:t>    'max_depth': [2,4,6,8,10],</a:t>
            </a:r>
          </a:p>
          <a:p>
            <a:r>
              <a:t>    'min_samples_leaf': [2,4,6,8,10],</a:t>
            </a:r>
          </a:p>
          <a:p>
            <a:r>
              <a:t>    'min_samples_split': [2,4,6,8,10],</a:t>
            </a:r>
          </a:p>
          <a:p>
            <a:r>
              <a:t>    'criterion': ['gini', 'entropy'],</a:t>
            </a:r>
          </a:p>
          <a:p>
            <a:r>
              <a:t>    'random_state': [0,42]</a:t>
            </a:r>
          </a:p>
          <a:p>
            <a:r>
              <a:t>}</a:t>
            </a:r>
          </a:p>
          <a:p/>
          <a:p>
            <a:r>
              <a:t>#Grid Search Object with Decision Tree Classifier</a:t>
            </a:r>
          </a:p>
          <a:p>
            <a:r>
              <a:t>grid_search = GridSearchCV(estimator = dtree, param_grid = param_grid, cv = 3, n_jobs = 1, verbose = 1, scoring='accuracy')</a:t>
            </a:r>
          </a:p>
          <a:p/>
          <a:p>
            <a:r>
              <a:t>#Fitting the data</a:t>
            </a:r>
          </a:p>
          <a:p>
            <a:r>
              <a:t>grid_search.fit(X_train, y_train)</a:t>
            </a:r>
          </a:p>
          <a:p/>
          <a:p>
            <a:r>
              <a:t>#Best parameters</a:t>
            </a:r>
          </a:p>
          <a:p>
            <a:r>
              <a:t>print(grid_search.best_params_)</a:t>
            </a:r>
          </a:p>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#Decision Tree Classifier Object with best parameters</a:t>
            </a:r>
          </a:p>
          <a:p>
            <a:r>
              <a:t>dtree  = DecisionTreeClassifier(criterion='gini', max_depth=6, min_samples_leaf=2, min_samples_split=10, random_state=42)</a:t>
            </a:r>
          </a:p>
          <a:p/>
          <a:p>
            <a:r>
              <a:t>#Fitting the data</a:t>
            </a:r>
          </a:p>
          <a:p>
            <a:r>
              <a:t>dtree.fit(X_train, y_train)</a:t>
            </a:r>
          </a:p>
          <a:p/>
          <a:p>
            <a:r>
              <a:t>#Training accuracy</a:t>
            </a:r>
          </a:p>
          <a:p>
            <a:r>
              <a:t>print('Training Accuracy: ', dtree.score(X_train, y_train))</a:t>
            </a:r>
          </a:p>
          <a:p/>
          <a:p>
            <a:r>
              <a:t>#Predicting the values</a:t>
            </a:r>
          </a:p>
          <a:p>
            <a:r>
              <a:t>d_pred = dtree.predict(X_test)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Random Forest Classifier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sklearn.ensemble import RandomForestClassifier</a:t>
            </a:r>
          </a:p>
          <a:p/>
          <a:p>
            <a:r>
              <a:t>#Random Forest Classifier Object</a:t>
            </a:r>
          </a:p>
          <a:p>
            <a:r>
              <a:t>rfc = RandomForestClassifier()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Hyperparameter Tuning using GridSearchCV</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sklearn.model_selection import GridSearchCV</a:t>
            </a:r>
          </a:p>
          <a:p/>
          <a:p>
            <a:r>
              <a:t>#parameter grid</a:t>
            </a:r>
          </a:p>
          <a:p>
            <a:r>
              <a:t>param_grid = {</a:t>
            </a:r>
          </a:p>
          <a:p>
            <a:r>
              <a:t>    'max_depth': [2,4,6,8,10],</a:t>
            </a:r>
          </a:p>
          <a:p>
            <a:r>
              <a:t>    'min_samples_leaf': [2,4,6,8,10],</a:t>
            </a:r>
          </a:p>
          <a:p>
            <a:r>
              <a:t>    'min_samples_split': [2,4,6,8,10],</a:t>
            </a:r>
          </a:p>
          <a:p>
            <a:r>
              <a:t>    'criterion': ['gini', 'entropy'],</a:t>
            </a:r>
          </a:p>
          <a:p>
            <a:r>
              <a:t>    'random_state': [0,42]</a:t>
            </a:r>
          </a:p>
          <a:p>
            <a:r>
              <a:t>}</a:t>
            </a:r>
          </a:p>
          <a:p/>
          <a:p>
            <a:r>
              <a:t>#Grid Search Object with Random Forest Classifier</a:t>
            </a:r>
          </a:p>
          <a:p>
            <a:r>
              <a:t>grid_search = GridSearchCV(estimator = rfc, param_grid = param_grid, cv = 3, n_jobs = 1, verbose = 1, scoring='accuracy')</a:t>
            </a:r>
          </a:p>
          <a:p/>
          <a:p>
            <a:r>
              <a:t>#Fitting the data</a:t>
            </a:r>
          </a:p>
          <a:p>
            <a:r>
              <a:t>grid_search.fit(X_train, y_train)</a:t>
            </a:r>
          </a:p>
          <a:p/>
          <a:p>
            <a:r>
              <a:t>#Best parameters</a:t>
            </a:r>
          </a:p>
          <a:p>
            <a:r>
              <a:t>print(grid_search.best_params_)</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#Random Forest Classifier Object with best parameters</a:t>
            </a:r>
          </a:p>
          <a:p>
            <a:r>
              <a:t>rfc = RandomForestClassifier(criterion='entropy', max_depth=10, min_samples_leaf=10, min_samples_split=2, random_state=42)</a:t>
            </a:r>
          </a:p>
          <a:p/>
          <a:p>
            <a:r>
              <a:t>#Fitting the data</a:t>
            </a:r>
          </a:p>
          <a:p>
            <a:r>
              <a:t>rfc.fit(X_train, y_train)</a:t>
            </a:r>
          </a:p>
          <a:p/>
          <a:p>
            <a:r>
              <a:t>#Training accuracy</a:t>
            </a:r>
          </a:p>
          <a:p>
            <a:r>
              <a:t>print('Training Accuracy: ', rfc.score(X_train, y_train))</a:t>
            </a:r>
          </a:p>
          <a:p/>
          <a:p>
            <a:r>
              <a:t>#Predicting the values</a:t>
            </a:r>
          </a:p>
          <a:p>
            <a:r>
              <a:t>r_pred = rfc.predict(X_test)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K Nearest Neighbors Classifier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sklearn.neighbors import KNeighborsClassifier</a:t>
            </a:r>
          </a:p>
          <a:p/>
          <a:p>
            <a:r>
              <a:t>#KNN Classifier Object</a:t>
            </a:r>
          </a:p>
          <a:p>
            <a:r>
              <a:t>knn = KNeighborsClassifier()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Hyperparameter Tuning using GridSearchCV</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sklearn.model_selection import GridSearchCV</a:t>
            </a:r>
          </a:p>
          <a:p/>
          <a:p>
            <a:r>
              <a:t>#parameter grid</a:t>
            </a:r>
          </a:p>
          <a:p>
            <a:r>
              <a:t>param_grid = {</a:t>
            </a:r>
          </a:p>
          <a:p>
            <a:r>
              <a:t>    'n_neighbors': [2,4,6,8,10],</a:t>
            </a:r>
          </a:p>
          <a:p>
            <a:r>
              <a:t>    'weights': ['uniform', 'distance'],</a:t>
            </a:r>
          </a:p>
          <a:p>
            <a:r>
              <a:t>    'algorithm': ['auto', 'ball_tree', 'kd_tree', 'brute']</a:t>
            </a:r>
          </a:p>
          <a:p>
            <a:r>
              <a:t>}</a:t>
            </a:r>
          </a:p>
          <a:p/>
          <a:p>
            <a:r>
              <a:t>#Grid Search Object with KNN Classifier</a:t>
            </a:r>
          </a:p>
          <a:p>
            <a:r>
              <a:t>grid_search = GridSearchCV(estimator = knn, param_grid = param_grid, cv = 3, n_jobs = 1, verbose = 1, scoring='accuracy')</a:t>
            </a:r>
          </a:p>
          <a:p/>
          <a:p>
            <a:r>
              <a:t>#Fitting the data</a:t>
            </a:r>
          </a:p>
          <a:p>
            <a:r>
              <a:t>grid_search.fit(X_train, y_train)</a:t>
            </a:r>
          </a:p>
          <a:p/>
          <a:p>
            <a:r>
              <a:t>#Best parameters</a:t>
            </a:r>
          </a:p>
          <a:p>
            <a:r>
              <a:t>print(grid_search.best_params_)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#KNN Classifier Object with best parameters</a:t>
            </a:r>
          </a:p>
          <a:p>
            <a:r>
              <a:t>knn = KNeighborsClassifier(algorithm='ball_tree', n_neighbors=6, weights='uniform')</a:t>
            </a:r>
          </a:p>
          <a:p/>
          <a:p>
            <a:r>
              <a:t>#Fitting the data</a:t>
            </a:r>
          </a:p>
          <a:p>
            <a:r>
              <a:t>knn.fit(X_train, y_train)</a:t>
            </a:r>
          </a:p>
          <a:p/>
          <a:p>
            <a:r>
              <a:t>#Training accuracy</a:t>
            </a:r>
          </a:p>
          <a:p>
            <a:r>
              <a:t>print('Training Accuracy: ', knn.score(X_train, y_train))</a:t>
            </a:r>
          </a:p>
          <a:p/>
          <a:p>
            <a:r>
              <a:t>#Predicting the values</a:t>
            </a:r>
          </a:p>
          <a:p>
            <a:r>
              <a:t>k_pred = knn.predict(X_test)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Model Evaluation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Confusion Matrix Heatmap</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sklearn.metrics import confusion_matrix</a:t>
            </a:r>
          </a:p>
          <a:p/>
          <a:p>
            <a:r>
              <a:t>fig, ax = plt.subplots(1, 3, figsize=(20, 5))</a:t>
            </a:r>
          </a:p>
          <a:p/>
          <a:p>
            <a:r>
              <a:t>#Decision Tree Confusion Matrix</a:t>
            </a:r>
          </a:p>
          <a:p>
            <a:r>
              <a:t>sns.heatmap(confusion_matrix(y_test, d_pred), annot=True, ax=ax[0], cmap='coolwarm').set_title('Decision Tree Confusion Matrix')</a:t>
            </a:r>
          </a:p>
          <a:p/>
          <a:p>
            <a:r>
              <a:t>#Random Forest Confusion Matrix</a:t>
            </a:r>
          </a:p>
          <a:p>
            <a:r>
              <a:t>sns.heatmap(confusion_matrix(y_test, r_pred), annot=True, ax=ax[1], cmap='coolwarm').set_title('Random Forest Confusion Matrix')</a:t>
            </a:r>
          </a:p>
          <a:p/>
          <a:p>
            <a:r>
              <a:t>#KNN Confusion Matrix</a:t>
            </a:r>
          </a:p>
          <a:p>
            <a:r>
              <a:t>sns.heatmap(confusion_matrix(y_test, k_pred), annot=True, ax=ax[2], cmap='coolwarm').set_title('KNN Confusion Matrix')</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Distribution Plot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plt.subplots(1, 3, figsize=(20, 5))</a:t>
            </a:r>
          </a:p>
          <a:p/>
          <a:p>
            <a:r>
              <a:t>#Decision Tree </a:t>
            </a:r>
          </a:p>
          <a:p>
            <a:r>
              <a:t>sns.distplot(y_test, hist=False, color="r", label="Actual Value", ax=ax[0]).set_title('Decision Tree')</a:t>
            </a:r>
          </a:p>
          <a:p>
            <a:r>
              <a:t>sns.distplot(d_pred, hist=False, color="b", label="Fitted Values" , ax=ax[0])</a:t>
            </a:r>
          </a:p>
          <a:p/>
          <a:p>
            <a:r>
              <a:t>#Random Forest</a:t>
            </a:r>
          </a:p>
          <a:p>
            <a:r>
              <a:t>sns.distplot(y_test, hist=False, color="r", label="Actual Value", ax=ax[1]).set_title('Random Forest')</a:t>
            </a:r>
          </a:p>
          <a:p>
            <a:r>
              <a:t>sns.distplot(r_pred, hist=False, color="b", label="Fitted Values" , ax=ax[1])</a:t>
            </a:r>
          </a:p>
          <a:p/>
          <a:p>
            <a:r>
              <a:t>#KNN</a:t>
            </a:r>
          </a:p>
          <a:p>
            <a:r>
              <a:t>sns.distplot(y_test, hist=False, color="r", label="Actual Value", ax=ax[2]).set_title('KNN')</a:t>
            </a:r>
          </a:p>
          <a:p>
            <a:r>
              <a:t>sns.distplot(k_pred, hist=False, color="b", label="Fitted Values" , ax=ax[2])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Classification Report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sklearn.metrics import classification_report</a:t>
            </a:r>
          </a:p>
          <a:p/>
          <a:p>
            <a:r>
              <a:t>print('Decision Tree Classification Report: \n', classification_report(y_test, d_pred))</a:t>
            </a:r>
          </a:p>
          <a:p/>
          <a:p>
            <a:r>
              <a:t>print('Random Forest Classification Report: \n', classification_report(y_test, r_pred))</a:t>
            </a:r>
          </a:p>
          <a:p/>
          <a:p>
            <a:r>
              <a:t>print('KNN Classification Report: \n', classification_report(y_test, k_pred))</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Model Metrics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from sklearn.metrics import accuracy_score, mean_squared_error, mean_absolute_error, f1_score</a:t>
            </a:r>
          </a:p>
          <a:p/>
          <a:p>
            <a:r>
              <a:t>#Bar plots</a:t>
            </a:r>
          </a:p>
          <a:p>
            <a:r>
              <a:t>fig, ax = plt.subplots(2,2, figsize=(20, 10))</a:t>
            </a:r>
          </a:p>
          <a:p/>
          <a:p>
            <a:r>
              <a:t>#Accuracy Score</a:t>
            </a:r>
          </a:p>
          <a:p>
            <a:r>
              <a:t>sns.barplot(x = ['Decision Tree', 'Random Forest', 'KNN'], y = [accuracy_score(y_test, d_pred), accuracy_score(y_test, r_pred), accuracy_score(y_test, k_pred)], ax=ax[0,0]).set_title('Accuracy Score')</a:t>
            </a:r>
          </a:p>
          <a:p/>
          <a:p>
            <a:r>
              <a:t>#Mean Squared Error</a:t>
            </a:r>
          </a:p>
          <a:p>
            <a:r>
              <a:t>sns.barplot(x = ['Decision Tree', 'Random Forest', 'KNN'], y = [mean_squared_error(y_test, d_pred), mean_squared_error(y_test, r_pred), mean_squared_error(y_test, k_pred)], ax=ax[0,1]).set_title('Mean Squared Error')</a:t>
            </a:r>
          </a:p>
          <a:p/>
          <a:p>
            <a:r>
              <a:t>#Mean Absolute Error</a:t>
            </a:r>
          </a:p>
          <a:p>
            <a:r>
              <a:t>sns.barplot(x = ['Decision Tree', 'Random Forest', 'KNN'], y = [mean_absolute_error(y_test, d_pred), mean_absolute_error(y_test, r_pred), mean_absolute_error(y_test, k_pr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These graphs compares the models based on the metrics such as accuracy score, mean squared error, mean absolute error and f1 score. The Random Forest Classifier has the highest accuracy score and F1 Score, and lowest mean squared error, mean absolute error. Therefore, the Random Forest Classifier is a good fit for predicting the customer churn.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Feature Importance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 Code</a:t>
            </a:r>
          </a:p>
        </p:txBody>
      </p:sp>
      <p:sp>
        <p:nvSpPr>
          <p:cNvPr id="3" name="Content Placeholder 2"/>
          <p:cNvSpPr>
            <a:spLocks noGrp="1"/>
          </p:cNvSpPr>
          <p:nvPr>
            <p:ph idx="1"/>
          </p:nvPr>
        </p:nvSpPr>
        <p:spPr/>
        <p:txBody>
          <a:bodyPr/>
          <a:lstStyle/>
          <a:p>
            <a:r>
              <a:t>fig, ax = plt.subplots(1, 2, figsize=(20, 8))</a:t>
            </a:r>
          </a:p>
          <a:p>
            <a:r>
              <a:t># Decision Tree Classifier Feature Importance</a:t>
            </a:r>
          </a:p>
          <a:p>
            <a:r>
              <a:t>feature_df = pd.DataFrame({'Features': X_train.columns, 'Importance': dtree.feature_importances_})</a:t>
            </a:r>
          </a:p>
          <a:p>
            <a:r>
              <a:t>feature_df.sort_values('Importance', ascending=False, inplace=True)</a:t>
            </a:r>
          </a:p>
          <a:p>
            <a:r>
              <a:t>sns.barplot(x = 'Importance', y = 'Features', data = feature_df, ax=ax[0]).set_title('Decision Tree Classifier Feature Importance')</a:t>
            </a:r>
          </a:p>
          <a:p/>
          <a:p>
            <a:r>
              <a:t># Random Forest Classifier Feature Importance</a:t>
            </a:r>
          </a:p>
          <a:p>
            <a:r>
              <a:t>feature_df = pd.DataFrame({'Features': X_train.columns, 'Importance': rfc.feature_importances_})</a:t>
            </a:r>
          </a:p>
          <a:p>
            <a:r>
              <a:t>feature_df.sort_values('Importance', ascending=False, inplace=True)</a:t>
            </a:r>
          </a:p>
          <a:p>
            <a:r>
              <a:t>sns.barplot(x = 'Importance', y = 'Features', data = feature_df, ax=ax[1]).set_title('Random Forest Classifier Feature Importance')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From both the models, it is clear that the tenure, monthly charges, and total charges are the most important features for predicting the customer churn. Therefore, the company should focus on these features to reduce the customer churn.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 Conclusion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Step</a:t>
            </a:r>
          </a:p>
        </p:txBody>
      </p:sp>
      <p:sp>
        <p:nvSpPr>
          <p:cNvPr id="3" name="Content Placeholder 2"/>
          <p:cNvSpPr>
            <a:spLocks noGrp="1"/>
          </p:cNvSpPr>
          <p:nvPr>
            <p:ph idx="1"/>
          </p:nvPr>
        </p:nvSpPr>
        <p:spPr/>
        <p:txBody>
          <a:bodyPr/>
          <a:lstStyle/>
          <a:p>
            <a:r>
              <a:t>From the exploratory data analysis, I came to know that, the senior citizens have lower churn count whereas the customers who are single or don't have dependents ahve higher churn count. In addition to that, customers are more satified with the streaming services than other services such as Online backup and Device protection, which has resulted in lower churn count in customer with streaing services than the other services.</a:t>
            </a:r>
          </a:p>
          <a:p/>
          <a:p>
            <a:r>
              <a:t>The tenure have an inverse relation with churn count, where customer with tenure shorter than 5 months have higher churn count. Moreover, the customers with month-to-month contract have higher churn count as compared to those with one or two year contract which also proves that customer who have longer contract with the company have lower churn count.</a:t>
            </a:r>
          </a:p>
          <a:p/>
          <a:p>
            <a:r>
              <a:t>It has been obs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